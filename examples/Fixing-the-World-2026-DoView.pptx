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risisgroup.org/cmt/global/10-conflicts-watch-2026" TargetMode="External"/><Relationship Id="rId3" Type="http://schemas.openxmlformats.org/officeDocument/2006/relationships/hyperlink" Target="https://www.eurasiagroup.net/issues/top-risks-2026" TargetMode="External"/><Relationship Id="rId4" Type="http://schemas.openxmlformats.org/officeDocument/2006/relationships/hyperlink" Target="https://www.weforum.org/publications/global-risks-report-2026/digest/" TargetMode="External"/><Relationship Id="rId5" Type="http://schemas.openxmlformats.org/officeDocument/2006/relationships/hyperlink" Target="https://www.wri.org/insights/cop30-outcomes-next-steps" TargetMode="External"/><Relationship Id="rId6" Type="http://schemas.openxmlformats.org/officeDocument/2006/relationships/hyperlink" Target="https://about.bnef.com/insights/clean-energy/" TargetMode="External"/><Relationship Id="rId7" Type="http://schemas.openxmlformats.org/officeDocument/2006/relationships/hyperlink" Target="https://rmi.org/the-energy-transition-in-2026-10-trends-to-watch/" TargetMode="External"/><Relationship Id="rId8" Type="http://schemas.openxmlformats.org/officeDocument/2006/relationships/hyperlink" Target="https://www.who.int/news/item/03-02-2026-who-launches-2026-appeal" TargetMode="External"/><Relationship Id="rId9" Type="http://schemas.openxmlformats.org/officeDocument/2006/relationships/hyperlink" Target="https://www.who.int/news/item/02-02-2026-six-years-after-covid-19" TargetMode="External"/><Relationship Id="rId10" Type="http://schemas.openxmlformats.org/officeDocument/2006/relationships/hyperlink" Target="https://www.worldbank.org/en/topic/poverty" TargetMode="External"/><Relationship Id="rId11" Type="http://schemas.openxmlformats.org/officeDocument/2006/relationships/hyperlink" Target="https://www.cnbc.com/2026/01/19/billionaires-richer-than-ever-oxfam-inequality-report.html" TargetMode="External"/><Relationship Id="rId12" Type="http://schemas.openxmlformats.org/officeDocument/2006/relationships/hyperlink" Target="https://www.wfp.org/publications/wfp-global-outlook" TargetMode="External"/><Relationship Id="rId13" Type="http://schemas.openxmlformats.org/officeDocument/2006/relationships/hyperlink" Target="https://www.unesco.org/en/articles/united-nations-world-water-development-report-2026" TargetMode="External"/><Relationship Id="rId14" Type="http://schemas.openxmlformats.org/officeDocument/2006/relationships/hyperlink" Target="https://www.unep.org/resources/state-finance-nature-2026" TargetMode="External"/><Relationship Id="rId15" Type="http://schemas.openxmlformats.org/officeDocument/2006/relationships/hyperlink" Target="https://www.unep.org/inc-plastic-pollution" TargetMode="External"/><Relationship Id="rId16" Type="http://schemas.openxmlformats.org/officeDocument/2006/relationships/hyperlink" Target="https://www.worldbank.org/en/topic/education/overview" TargetMode="External"/><Relationship Id="rId17" Type="http://schemas.openxmlformats.org/officeDocument/2006/relationships/hyperlink" Target="https://www.mindfoundry.ai/blog/ai-regulations-around-the-world" TargetMode="External"/><Relationship Id="rId18" Type="http://schemas.openxmlformats.org/officeDocument/2006/relationships/hyperlink" Target="https://www.unwomen.org/en/about-us/strategic-plan" TargetMode="External"/><Relationship Id="rId19" Type="http://schemas.openxmlformats.org/officeDocument/2006/relationships/hyperlink" Target="https://hlpf.un.org/202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Fixing the World 2026 DoView</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ectangle 4"/>
          <p:cNvSpPr/>
          <p:nvPr/>
        </p:nvSpPr>
        <p:spPr>
          <a:xfrm>
            <a:off x="2438247" y="896400"/>
            <a:ext cx="7315200" cy="180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438247" y="914400"/>
            <a:ext cx="7315200" cy="548640"/>
          </a:xfrm>
          <a:prstGeom prst="roundRect">
            <a:avLst>
              <a:gd name="adj" fmla="val 5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000000"/>
                </a:solidFill>
                <a:latin typeface="Calibri"/>
                <a:hlinkClick r:id="rId2" action="ppaction://hlinksldjump"/>
              </a:rPr>
              <a:t>Final Outcomes</a:t>
            </a:r>
          </a:p>
        </p:txBody>
      </p:sp>
      <p:sp>
        <p:nvSpPr>
          <p:cNvPr id="7" name="Rectangle 6"/>
          <p:cNvSpPr/>
          <p:nvPr/>
        </p:nvSpPr>
        <p:spPr>
          <a:xfrm>
            <a:off x="320040" y="1645920"/>
            <a:ext cx="11551615"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20040" y="1874520"/>
            <a:ext cx="3728618" cy="54864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3" action="ppaction://hlinksldjump"/>
              </a:rPr>
              <a:t>Peace and Security</a:t>
            </a:r>
          </a:p>
        </p:txBody>
      </p:sp>
      <p:sp>
        <p:nvSpPr>
          <p:cNvPr id="9" name="Rounded Rectangle 8"/>
          <p:cNvSpPr/>
          <p:nvPr/>
        </p:nvSpPr>
        <p:spPr>
          <a:xfrm>
            <a:off x="4231538" y="1874520"/>
            <a:ext cx="3728618" cy="548640"/>
          </a:xfrm>
          <a:prstGeom prst="roundRect">
            <a:avLst>
              <a:gd name="adj" fmla="val 5000"/>
            </a:avLst>
          </a:prstGeom>
          <a:solidFill>
            <a:srgbClr val="F8CECC"/>
          </a:solidFill>
          <a:ln w="12700">
            <a:solidFill>
              <a:srgbClr val="B8545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4" action="ppaction://hlinksldjump"/>
              </a:rPr>
              <a:t>Climate and Energy</a:t>
            </a:r>
          </a:p>
        </p:txBody>
      </p:sp>
      <p:sp>
        <p:nvSpPr>
          <p:cNvPr id="10" name="Rounded Rectangle 9"/>
          <p:cNvSpPr/>
          <p:nvPr/>
        </p:nvSpPr>
        <p:spPr>
          <a:xfrm>
            <a:off x="8143036" y="1874520"/>
            <a:ext cx="3728618" cy="548640"/>
          </a:xfrm>
          <a:prstGeom prst="roundRect">
            <a:avLst>
              <a:gd name="adj" fmla="val 5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5" action="ppaction://hlinksldjump"/>
              </a:rPr>
              <a:t>Global Health</a:t>
            </a:r>
          </a:p>
        </p:txBody>
      </p:sp>
      <p:sp>
        <p:nvSpPr>
          <p:cNvPr id="11" name="Rounded Rectangle 10"/>
          <p:cNvSpPr/>
          <p:nvPr/>
        </p:nvSpPr>
        <p:spPr>
          <a:xfrm>
            <a:off x="320040" y="2560320"/>
            <a:ext cx="3728618" cy="548640"/>
          </a:xfrm>
          <a:prstGeom prst="roundRect">
            <a:avLst>
              <a:gd name="adj" fmla="val 5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6" action="ppaction://hlinksldjump"/>
              </a:rPr>
              <a:t>Poverty and Inequality</a:t>
            </a:r>
          </a:p>
        </p:txBody>
      </p:sp>
      <p:sp>
        <p:nvSpPr>
          <p:cNvPr id="12" name="Rounded Rectangle 11"/>
          <p:cNvSpPr/>
          <p:nvPr/>
        </p:nvSpPr>
        <p:spPr>
          <a:xfrm>
            <a:off x="4231538" y="2560320"/>
            <a:ext cx="3728618" cy="548640"/>
          </a:xfrm>
          <a:prstGeom prst="roundRect">
            <a:avLst>
              <a:gd name="adj" fmla="val 5000"/>
            </a:avLst>
          </a:prstGeom>
          <a:solidFill>
            <a:srgbClr val="FFF4E6"/>
          </a:solidFill>
          <a:ln w="12700">
            <a:solidFill>
              <a:srgbClr val="D4A57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7" action="ppaction://hlinksldjump"/>
              </a:rPr>
              <a:t>Food and Hunger</a:t>
            </a:r>
          </a:p>
        </p:txBody>
      </p:sp>
      <p:sp>
        <p:nvSpPr>
          <p:cNvPr id="13" name="Rounded Rectangle 12"/>
          <p:cNvSpPr/>
          <p:nvPr/>
        </p:nvSpPr>
        <p:spPr>
          <a:xfrm>
            <a:off x="8143036" y="2560320"/>
            <a:ext cx="3728618" cy="548640"/>
          </a:xfrm>
          <a:prstGeom prst="roundRect">
            <a:avLst>
              <a:gd name="adj" fmla="val 5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8" action="ppaction://hlinksldjump"/>
              </a:rPr>
              <a:t>Water and Sanitation</a:t>
            </a:r>
          </a:p>
        </p:txBody>
      </p:sp>
      <p:sp>
        <p:nvSpPr>
          <p:cNvPr id="14" name="Rounded Rectangle 13"/>
          <p:cNvSpPr/>
          <p:nvPr/>
        </p:nvSpPr>
        <p:spPr>
          <a:xfrm>
            <a:off x="320040" y="3246120"/>
            <a:ext cx="3728618" cy="548640"/>
          </a:xfrm>
          <a:prstGeom prst="roundRect">
            <a:avLst>
              <a:gd name="adj" fmla="val 5000"/>
            </a:avLst>
          </a:prstGeom>
          <a:solidFill>
            <a:srgbClr val="FFE6CC"/>
          </a:solidFill>
          <a:ln w="12700">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9" action="ppaction://hlinksldjump"/>
              </a:rPr>
              <a:t>Nature and Biodiversity</a:t>
            </a:r>
          </a:p>
        </p:txBody>
      </p:sp>
      <p:sp>
        <p:nvSpPr>
          <p:cNvPr id="15" name="Rounded Rectangle 14"/>
          <p:cNvSpPr/>
          <p:nvPr/>
        </p:nvSpPr>
        <p:spPr>
          <a:xfrm>
            <a:off x="4231538" y="3246120"/>
            <a:ext cx="3728618" cy="548640"/>
          </a:xfrm>
          <a:prstGeom prst="roundRect">
            <a:avLst>
              <a:gd name="adj" fmla="val 5000"/>
            </a:avLst>
          </a:prstGeom>
          <a:solidFill>
            <a:srgbClr val="D4E1F5"/>
          </a:solidFill>
          <a:ln w="12700">
            <a:solidFill>
              <a:srgbClr val="7EA6E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10" action="ppaction://hlinksldjump"/>
              </a:rPr>
              <a:t>Education</a:t>
            </a:r>
          </a:p>
        </p:txBody>
      </p:sp>
      <p:sp>
        <p:nvSpPr>
          <p:cNvPr id="16" name="Rounded Rectangle 15"/>
          <p:cNvSpPr/>
          <p:nvPr/>
        </p:nvSpPr>
        <p:spPr>
          <a:xfrm>
            <a:off x="8143036" y="3246120"/>
            <a:ext cx="3728618" cy="548640"/>
          </a:xfrm>
          <a:prstGeom prst="roundRect">
            <a:avLst>
              <a:gd name="adj" fmla="val 5000"/>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11" action="ppaction://hlinksldjump"/>
              </a:rPr>
              <a:t>AI and Technology Governance</a:t>
            </a:r>
          </a:p>
        </p:txBody>
      </p:sp>
      <p:sp>
        <p:nvSpPr>
          <p:cNvPr id="17" name="Rounded Rectangle 16"/>
          <p:cNvSpPr/>
          <p:nvPr/>
        </p:nvSpPr>
        <p:spPr>
          <a:xfrm>
            <a:off x="320040" y="3931920"/>
            <a:ext cx="3728618" cy="54864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000000"/>
                </a:solidFill>
                <a:latin typeface="Calibri"/>
                <a:hlinkClick r:id="rId12" action="ppaction://hlinksldjump"/>
              </a:rPr>
              <a:t>Gender Equality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Final Outcomes</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ectangle 4"/>
          <p:cNvSpPr/>
          <p:nvPr/>
        </p:nvSpPr>
        <p:spPr>
          <a:xfrm>
            <a:off x="2438247" y="1362744"/>
            <a:ext cx="7315200" cy="180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438247" y="1380744"/>
            <a:ext cx="7315200" cy="822960"/>
          </a:xfrm>
          <a:prstGeom prst="roundRect">
            <a:avLst>
              <a:gd name="adj" fmla="val 5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Sustainable planet achieved</a:t>
            </a:r>
          </a:p>
        </p:txBody>
      </p:sp>
      <p:sp>
        <p:nvSpPr>
          <p:cNvPr id="7" name="Rectangle 6"/>
          <p:cNvSpPr/>
          <p:nvPr/>
        </p:nvSpPr>
        <p:spPr>
          <a:xfrm>
            <a:off x="2438247" y="2295432"/>
            <a:ext cx="7315200" cy="180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38247" y="2313432"/>
            <a:ext cx="7315200" cy="822960"/>
          </a:xfrm>
          <a:prstGeom prst="roundRect">
            <a:avLst>
              <a:gd name="adj" fmla="val 5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Peaceful and secure world established</a:t>
            </a:r>
          </a:p>
        </p:txBody>
      </p:sp>
      <p:sp>
        <p:nvSpPr>
          <p:cNvPr id="9" name="Rectangle 8"/>
          <p:cNvSpPr/>
          <p:nvPr/>
        </p:nvSpPr>
        <p:spPr>
          <a:xfrm>
            <a:off x="2438247" y="3228120"/>
            <a:ext cx="7315200" cy="180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38247" y="3246120"/>
            <a:ext cx="7315200" cy="822960"/>
          </a:xfrm>
          <a:prstGeom prst="roundRect">
            <a:avLst>
              <a:gd name="adj" fmla="val 5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Prosperous and equitable societies built</a:t>
            </a:r>
          </a:p>
        </p:txBody>
      </p:sp>
      <p:sp>
        <p:nvSpPr>
          <p:cNvPr id="11" name="Rectangle 10"/>
          <p:cNvSpPr/>
          <p:nvPr/>
        </p:nvSpPr>
        <p:spPr>
          <a:xfrm>
            <a:off x="2438247" y="4160808"/>
            <a:ext cx="7315200" cy="180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8247" y="4178808"/>
            <a:ext cx="7315200" cy="822960"/>
          </a:xfrm>
          <a:prstGeom prst="roundRect">
            <a:avLst>
              <a:gd name="adj" fmla="val 5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Healthy and educated populations ensured</a:t>
            </a:r>
          </a:p>
        </p:txBody>
      </p:sp>
      <p:sp>
        <p:nvSpPr>
          <p:cNvPr id="13" name="Rectangle 12"/>
          <p:cNvSpPr/>
          <p:nvPr/>
        </p:nvSpPr>
        <p:spPr>
          <a:xfrm>
            <a:off x="2438247" y="5093496"/>
            <a:ext cx="7315200" cy="180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438247" y="5111496"/>
            <a:ext cx="7315200" cy="822960"/>
          </a:xfrm>
          <a:prstGeom prst="roundRect">
            <a:avLst>
              <a:gd name="adj" fmla="val 5000"/>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Connected and empowered people worldwide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Peace and Security</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313432"/>
            <a:ext cx="2647873"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Peace negotiations initiated</a:t>
            </a:r>
          </a:p>
        </p:txBody>
      </p:sp>
      <p:sp>
        <p:nvSpPr>
          <p:cNvPr id="6" name="Rounded Rectangle 5"/>
          <p:cNvSpPr/>
          <p:nvPr/>
        </p:nvSpPr>
        <p:spPr>
          <a:xfrm>
            <a:off x="320040" y="3246120"/>
            <a:ext cx="2647873"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Humanitarian aid mobilised</a:t>
            </a:r>
          </a:p>
        </p:txBody>
      </p:sp>
      <p:sp>
        <p:nvSpPr>
          <p:cNvPr id="7" name="Rounded Rectangle 6"/>
          <p:cNvSpPr/>
          <p:nvPr/>
        </p:nvSpPr>
        <p:spPr>
          <a:xfrm>
            <a:off x="320040" y="4178808"/>
            <a:ext cx="2647873"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Mediation capacity strengthened</a:t>
            </a:r>
          </a:p>
        </p:txBody>
      </p:sp>
      <p:sp>
        <p:nvSpPr>
          <p:cNvPr id="8" name="Rounded Rectangle 7"/>
          <p:cNvSpPr/>
          <p:nvPr/>
        </p:nvSpPr>
        <p:spPr>
          <a:xfrm>
            <a:off x="3287953" y="2313432"/>
            <a:ext cx="2647873"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Ceasefire agreements brokered</a:t>
            </a:r>
          </a:p>
        </p:txBody>
      </p:sp>
      <p:sp>
        <p:nvSpPr>
          <p:cNvPr id="9" name="Rounded Rectangle 8"/>
          <p:cNvSpPr/>
          <p:nvPr/>
        </p:nvSpPr>
        <p:spPr>
          <a:xfrm>
            <a:off x="3287953" y="3246120"/>
            <a:ext cx="2647873"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Displaced populations assisted</a:t>
            </a:r>
          </a:p>
        </p:txBody>
      </p:sp>
      <p:sp>
        <p:nvSpPr>
          <p:cNvPr id="10" name="Rounded Rectangle 9"/>
          <p:cNvSpPr/>
          <p:nvPr/>
        </p:nvSpPr>
        <p:spPr>
          <a:xfrm>
            <a:off x="3287953" y="4178808"/>
            <a:ext cx="2647873"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Minilateral coalitions formed</a:t>
            </a:r>
          </a:p>
        </p:txBody>
      </p:sp>
      <p:sp>
        <p:nvSpPr>
          <p:cNvPr id="11" name="Rounded Rectangle 10"/>
          <p:cNvSpPr/>
          <p:nvPr/>
        </p:nvSpPr>
        <p:spPr>
          <a:xfrm>
            <a:off x="6255866" y="2779776"/>
            <a:ext cx="2118298"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Conflict zones stabilised</a:t>
            </a:r>
          </a:p>
        </p:txBody>
      </p:sp>
      <p:sp>
        <p:nvSpPr>
          <p:cNvPr id="12" name="Rounded Rectangle 11"/>
          <p:cNvSpPr/>
          <p:nvPr/>
        </p:nvSpPr>
        <p:spPr>
          <a:xfrm>
            <a:off x="6255866" y="3712464"/>
            <a:ext cx="2118298"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Forced displacement reduced</a:t>
            </a:r>
          </a:p>
        </p:txBody>
      </p:sp>
      <p:sp>
        <p:nvSpPr>
          <p:cNvPr id="13" name="Rounded Rectangle 12"/>
          <p:cNvSpPr/>
          <p:nvPr/>
        </p:nvSpPr>
        <p:spPr>
          <a:xfrm>
            <a:off x="8694204" y="3246120"/>
            <a:ext cx="3177451"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Multilateral peace governance reformed</a:t>
            </a:r>
          </a:p>
        </p:txBody>
      </p:sp>
      <p:sp>
        <p:nvSpPr>
          <p:cNvPr id="14" name="Right Arrow 13"/>
          <p:cNvSpPr/>
          <p:nvPr/>
        </p:nvSpPr>
        <p:spPr>
          <a:xfrm>
            <a:off x="3021253"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989166"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8427504"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Climate and Energy</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313432"/>
            <a:ext cx="3637178" cy="822960"/>
          </a:xfrm>
          <a:prstGeom prst="roundRect">
            <a:avLst>
              <a:gd name="adj" fmla="val 5000"/>
            </a:avLst>
          </a:prstGeom>
          <a:solidFill>
            <a:srgbClr val="F8CECC"/>
          </a:solidFill>
          <a:ln w="12700">
            <a:solidFill>
              <a:srgbClr val="B8545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National climate commitments updated</a:t>
            </a:r>
          </a:p>
        </p:txBody>
      </p:sp>
      <p:sp>
        <p:nvSpPr>
          <p:cNvPr id="6" name="Rounded Rectangle 5"/>
          <p:cNvSpPr/>
          <p:nvPr/>
        </p:nvSpPr>
        <p:spPr>
          <a:xfrm>
            <a:off x="320040" y="3246120"/>
            <a:ext cx="3637178" cy="822960"/>
          </a:xfrm>
          <a:prstGeom prst="roundRect">
            <a:avLst>
              <a:gd name="adj" fmla="val 5000"/>
            </a:avLst>
          </a:prstGeom>
          <a:solidFill>
            <a:srgbClr val="F8CECC"/>
          </a:solidFill>
          <a:ln w="12700">
            <a:solidFill>
              <a:srgbClr val="B8545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Climate finance mobilised</a:t>
            </a:r>
          </a:p>
        </p:txBody>
      </p:sp>
      <p:sp>
        <p:nvSpPr>
          <p:cNvPr id="7" name="Rounded Rectangle 6"/>
          <p:cNvSpPr/>
          <p:nvPr/>
        </p:nvSpPr>
        <p:spPr>
          <a:xfrm>
            <a:off x="320040" y="4178808"/>
            <a:ext cx="3637178" cy="822960"/>
          </a:xfrm>
          <a:prstGeom prst="roundRect">
            <a:avLst>
              <a:gd name="adj" fmla="val 5000"/>
            </a:avLst>
          </a:prstGeom>
          <a:solidFill>
            <a:srgbClr val="F8CECC"/>
          </a:solidFill>
          <a:ln w="12700">
            <a:solidFill>
              <a:srgbClr val="B8545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Just transition conferences held</a:t>
            </a:r>
          </a:p>
        </p:txBody>
      </p:sp>
      <p:sp>
        <p:nvSpPr>
          <p:cNvPr id="8" name="Rounded Rectangle 7"/>
          <p:cNvSpPr/>
          <p:nvPr/>
        </p:nvSpPr>
        <p:spPr>
          <a:xfrm>
            <a:off x="4277258" y="2313432"/>
            <a:ext cx="3637178" cy="822960"/>
          </a:xfrm>
          <a:prstGeom prst="roundRect">
            <a:avLst>
              <a:gd name="adj" fmla="val 5000"/>
            </a:avLst>
          </a:prstGeom>
          <a:solidFill>
            <a:srgbClr val="F8CECC"/>
          </a:solidFill>
          <a:ln w="12700">
            <a:solidFill>
              <a:srgbClr val="B8545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Renewable energy capacity expanded</a:t>
            </a:r>
          </a:p>
        </p:txBody>
      </p:sp>
      <p:sp>
        <p:nvSpPr>
          <p:cNvPr id="9" name="Rounded Rectangle 8"/>
          <p:cNvSpPr/>
          <p:nvPr/>
        </p:nvSpPr>
        <p:spPr>
          <a:xfrm>
            <a:off x="4277258" y="3246120"/>
            <a:ext cx="3637178" cy="822960"/>
          </a:xfrm>
          <a:prstGeom prst="roundRect">
            <a:avLst>
              <a:gd name="adj" fmla="val 5000"/>
            </a:avLst>
          </a:prstGeom>
          <a:solidFill>
            <a:srgbClr val="F8CECC"/>
          </a:solidFill>
          <a:ln w="12700">
            <a:solidFill>
              <a:srgbClr val="B8545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Grid infrastructure upgraded</a:t>
            </a:r>
          </a:p>
        </p:txBody>
      </p:sp>
      <p:sp>
        <p:nvSpPr>
          <p:cNvPr id="10" name="Rounded Rectangle 9"/>
          <p:cNvSpPr/>
          <p:nvPr/>
        </p:nvSpPr>
        <p:spPr>
          <a:xfrm>
            <a:off x="4277258" y="4178808"/>
            <a:ext cx="3637178" cy="822960"/>
          </a:xfrm>
          <a:prstGeom prst="roundRect">
            <a:avLst>
              <a:gd name="adj" fmla="val 5000"/>
            </a:avLst>
          </a:prstGeom>
          <a:solidFill>
            <a:srgbClr val="F8CECC"/>
          </a:solidFill>
          <a:ln w="12700">
            <a:solidFill>
              <a:srgbClr val="B8545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Adaptation programmes established</a:t>
            </a:r>
          </a:p>
        </p:txBody>
      </p:sp>
      <p:sp>
        <p:nvSpPr>
          <p:cNvPr id="11" name="Rounded Rectangle 10"/>
          <p:cNvSpPr/>
          <p:nvPr/>
        </p:nvSpPr>
        <p:spPr>
          <a:xfrm>
            <a:off x="8234476" y="2779776"/>
            <a:ext cx="3637179" cy="822960"/>
          </a:xfrm>
          <a:prstGeom prst="roundRect">
            <a:avLst>
              <a:gd name="adj" fmla="val 5000"/>
            </a:avLst>
          </a:prstGeom>
          <a:solidFill>
            <a:srgbClr val="F8CECC"/>
          </a:solidFill>
          <a:ln w="12700">
            <a:solidFill>
              <a:srgbClr val="B8545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Energy system substantially decarbonised</a:t>
            </a:r>
          </a:p>
        </p:txBody>
      </p:sp>
      <p:sp>
        <p:nvSpPr>
          <p:cNvPr id="12" name="Rounded Rectangle 11"/>
          <p:cNvSpPr/>
          <p:nvPr/>
        </p:nvSpPr>
        <p:spPr>
          <a:xfrm>
            <a:off x="8234476" y="3712464"/>
            <a:ext cx="3637179" cy="822960"/>
          </a:xfrm>
          <a:prstGeom prst="roundRect">
            <a:avLst>
              <a:gd name="adj" fmla="val 5000"/>
            </a:avLst>
          </a:prstGeom>
          <a:solidFill>
            <a:srgbClr val="F8CECC"/>
          </a:solidFill>
          <a:ln w="12700">
            <a:solidFill>
              <a:srgbClr val="B8545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Climate resilience strengthened</a:t>
            </a:r>
          </a:p>
        </p:txBody>
      </p:sp>
      <p:sp>
        <p:nvSpPr>
          <p:cNvPr id="13" name="Right Arrow 12"/>
          <p:cNvSpPr/>
          <p:nvPr/>
        </p:nvSpPr>
        <p:spPr>
          <a:xfrm>
            <a:off x="4010558"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967776"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Global Health</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779776"/>
            <a:ext cx="2909742" cy="822960"/>
          </a:xfrm>
          <a:prstGeom prst="roundRect">
            <a:avLst>
              <a:gd name="adj" fmla="val 5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Pandemic preparedness treaty implemented</a:t>
            </a:r>
          </a:p>
        </p:txBody>
      </p:sp>
      <p:sp>
        <p:nvSpPr>
          <p:cNvPr id="6" name="Rounded Rectangle 5"/>
          <p:cNvSpPr/>
          <p:nvPr/>
        </p:nvSpPr>
        <p:spPr>
          <a:xfrm>
            <a:off x="320040" y="3712464"/>
            <a:ext cx="2909742" cy="822960"/>
          </a:xfrm>
          <a:prstGeom prst="roundRect">
            <a:avLst>
              <a:gd name="adj" fmla="val 5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Health emergency funding secured</a:t>
            </a:r>
          </a:p>
        </p:txBody>
      </p:sp>
      <p:sp>
        <p:nvSpPr>
          <p:cNvPr id="7" name="Rounded Rectangle 6"/>
          <p:cNvSpPr/>
          <p:nvPr/>
        </p:nvSpPr>
        <p:spPr>
          <a:xfrm>
            <a:off x="3549822" y="2313432"/>
            <a:ext cx="3637178" cy="822960"/>
          </a:xfrm>
          <a:prstGeom prst="roundRect">
            <a:avLst>
              <a:gd name="adj" fmla="val 5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mRNA technology transferred</a:t>
            </a:r>
          </a:p>
        </p:txBody>
      </p:sp>
      <p:sp>
        <p:nvSpPr>
          <p:cNvPr id="8" name="Rounded Rectangle 7"/>
          <p:cNvSpPr/>
          <p:nvPr/>
        </p:nvSpPr>
        <p:spPr>
          <a:xfrm>
            <a:off x="3549822" y="3246120"/>
            <a:ext cx="3637178" cy="822960"/>
          </a:xfrm>
          <a:prstGeom prst="roundRect">
            <a:avLst>
              <a:gd name="adj" fmla="val 5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Local vaccine capacity built</a:t>
            </a:r>
          </a:p>
        </p:txBody>
      </p:sp>
      <p:sp>
        <p:nvSpPr>
          <p:cNvPr id="9" name="Rounded Rectangle 8"/>
          <p:cNvSpPr/>
          <p:nvPr/>
        </p:nvSpPr>
        <p:spPr>
          <a:xfrm>
            <a:off x="3549822" y="4178808"/>
            <a:ext cx="3637178" cy="822960"/>
          </a:xfrm>
          <a:prstGeom prst="roundRect">
            <a:avLst>
              <a:gd name="adj" fmla="val 5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Disease surveillance strengthened</a:t>
            </a:r>
          </a:p>
        </p:txBody>
      </p:sp>
      <p:sp>
        <p:nvSpPr>
          <p:cNvPr id="10" name="Rounded Rectangle 9"/>
          <p:cNvSpPr/>
          <p:nvPr/>
        </p:nvSpPr>
        <p:spPr>
          <a:xfrm>
            <a:off x="7507040" y="2313432"/>
            <a:ext cx="4364615" cy="822960"/>
          </a:xfrm>
          <a:prstGeom prst="roundRect">
            <a:avLst>
              <a:gd name="adj" fmla="val 5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Equitable medicine access improved</a:t>
            </a:r>
          </a:p>
        </p:txBody>
      </p:sp>
      <p:sp>
        <p:nvSpPr>
          <p:cNvPr id="11" name="Rounded Rectangle 10"/>
          <p:cNvSpPr/>
          <p:nvPr/>
        </p:nvSpPr>
        <p:spPr>
          <a:xfrm>
            <a:off x="7507040" y="3246120"/>
            <a:ext cx="4364615" cy="822960"/>
          </a:xfrm>
          <a:prstGeom prst="roundRect">
            <a:avLst>
              <a:gd name="adj" fmla="val 5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Health emergency response enhanced</a:t>
            </a:r>
          </a:p>
        </p:txBody>
      </p:sp>
      <p:sp>
        <p:nvSpPr>
          <p:cNvPr id="12" name="Rounded Rectangle 11"/>
          <p:cNvSpPr/>
          <p:nvPr/>
        </p:nvSpPr>
        <p:spPr>
          <a:xfrm>
            <a:off x="7507040" y="4178808"/>
            <a:ext cx="4364615" cy="822960"/>
          </a:xfrm>
          <a:prstGeom prst="roundRect">
            <a:avLst>
              <a:gd name="adj" fmla="val 5000"/>
            </a:avLst>
          </a:prstGeom>
          <a:solidFill>
            <a:srgbClr val="DAE8FC"/>
          </a:solidFill>
          <a:ln w="12700">
            <a:solidFill>
              <a:srgbClr val="6C8E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Pandemic resilience established</a:t>
            </a:r>
          </a:p>
        </p:txBody>
      </p:sp>
      <p:sp>
        <p:nvSpPr>
          <p:cNvPr id="13" name="Right Arrow 12"/>
          <p:cNvSpPr/>
          <p:nvPr/>
        </p:nvSpPr>
        <p:spPr>
          <a:xfrm>
            <a:off x="3283122"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240340"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Poverty and Inequality</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313432"/>
            <a:ext cx="3637178" cy="822960"/>
          </a:xfrm>
          <a:prstGeom prst="roundRect">
            <a:avLst>
              <a:gd name="adj" fmla="val 5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Development finance gap addressed</a:t>
            </a:r>
          </a:p>
        </p:txBody>
      </p:sp>
      <p:sp>
        <p:nvSpPr>
          <p:cNvPr id="6" name="Rounded Rectangle 5"/>
          <p:cNvSpPr/>
          <p:nvPr/>
        </p:nvSpPr>
        <p:spPr>
          <a:xfrm>
            <a:off x="320040" y="3246120"/>
            <a:ext cx="3637178" cy="822960"/>
          </a:xfrm>
          <a:prstGeom prst="roundRect">
            <a:avLst>
              <a:gd name="adj" fmla="val 5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Wealth taxation advocated</a:t>
            </a:r>
          </a:p>
        </p:txBody>
      </p:sp>
      <p:sp>
        <p:nvSpPr>
          <p:cNvPr id="7" name="Rounded Rectangle 6"/>
          <p:cNvSpPr/>
          <p:nvPr/>
        </p:nvSpPr>
        <p:spPr>
          <a:xfrm>
            <a:off x="320040" y="4178808"/>
            <a:ext cx="3637178" cy="822960"/>
          </a:xfrm>
          <a:prstGeom prst="roundRect">
            <a:avLst>
              <a:gd name="adj" fmla="val 5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Social protection programmes funded</a:t>
            </a:r>
          </a:p>
        </p:txBody>
      </p:sp>
      <p:sp>
        <p:nvSpPr>
          <p:cNvPr id="8" name="Rounded Rectangle 7"/>
          <p:cNvSpPr/>
          <p:nvPr/>
        </p:nvSpPr>
        <p:spPr>
          <a:xfrm>
            <a:off x="4277258" y="2313432"/>
            <a:ext cx="3637178" cy="822960"/>
          </a:xfrm>
          <a:prstGeom prst="roundRect">
            <a:avLst>
              <a:gd name="adj" fmla="val 5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Electricity access expanded in Africa</a:t>
            </a:r>
          </a:p>
        </p:txBody>
      </p:sp>
      <p:sp>
        <p:nvSpPr>
          <p:cNvPr id="9" name="Rounded Rectangle 8"/>
          <p:cNvSpPr/>
          <p:nvPr/>
        </p:nvSpPr>
        <p:spPr>
          <a:xfrm>
            <a:off x="4277258" y="3246120"/>
            <a:ext cx="3637178" cy="822960"/>
          </a:xfrm>
          <a:prstGeom prst="roundRect">
            <a:avLst>
              <a:gd name="adj" fmla="val 5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Concessional lending increased</a:t>
            </a:r>
          </a:p>
        </p:txBody>
      </p:sp>
      <p:sp>
        <p:nvSpPr>
          <p:cNvPr id="10" name="Rounded Rectangle 9"/>
          <p:cNvSpPr/>
          <p:nvPr/>
        </p:nvSpPr>
        <p:spPr>
          <a:xfrm>
            <a:off x="4277258" y="4178808"/>
            <a:ext cx="3637178" cy="822960"/>
          </a:xfrm>
          <a:prstGeom prst="roundRect">
            <a:avLst>
              <a:gd name="adj" fmla="val 5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Inequality reduction plans adopted</a:t>
            </a:r>
          </a:p>
        </p:txBody>
      </p:sp>
      <p:sp>
        <p:nvSpPr>
          <p:cNvPr id="11" name="Rounded Rectangle 10"/>
          <p:cNvSpPr/>
          <p:nvPr/>
        </p:nvSpPr>
        <p:spPr>
          <a:xfrm>
            <a:off x="8234476" y="2779776"/>
            <a:ext cx="3637179" cy="822960"/>
          </a:xfrm>
          <a:prstGeom prst="roundRect">
            <a:avLst>
              <a:gd name="adj" fmla="val 5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Extreme poverty reduced</a:t>
            </a:r>
          </a:p>
        </p:txBody>
      </p:sp>
      <p:sp>
        <p:nvSpPr>
          <p:cNvPr id="12" name="Rounded Rectangle 11"/>
          <p:cNvSpPr/>
          <p:nvPr/>
        </p:nvSpPr>
        <p:spPr>
          <a:xfrm>
            <a:off x="8234476" y="3712464"/>
            <a:ext cx="3637179" cy="822960"/>
          </a:xfrm>
          <a:prstGeom prst="roundRect">
            <a:avLst>
              <a:gd name="adj" fmla="val 5000"/>
            </a:avLst>
          </a:prstGeom>
          <a:solidFill>
            <a:srgbClr val="D5E8D4"/>
          </a:solidFill>
          <a:ln w="12700">
            <a:solidFill>
              <a:srgbClr val="82B3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Economic inequality narrowed</a:t>
            </a:r>
          </a:p>
        </p:txBody>
      </p:sp>
      <p:sp>
        <p:nvSpPr>
          <p:cNvPr id="13" name="Right Arrow 12"/>
          <p:cNvSpPr/>
          <p:nvPr/>
        </p:nvSpPr>
        <p:spPr>
          <a:xfrm>
            <a:off x="4010558"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967776"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Food and Hunger</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779776"/>
            <a:ext cx="2909742" cy="822960"/>
          </a:xfrm>
          <a:prstGeom prst="roundRect">
            <a:avLst>
              <a:gd name="adj" fmla="val 5000"/>
            </a:avLst>
          </a:prstGeom>
          <a:solidFill>
            <a:srgbClr val="FFF4E6"/>
          </a:solidFill>
          <a:ln w="12700">
            <a:solidFill>
              <a:srgbClr val="D4A57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Emergency food assistance delivered</a:t>
            </a:r>
          </a:p>
        </p:txBody>
      </p:sp>
      <p:sp>
        <p:nvSpPr>
          <p:cNvPr id="6" name="Rounded Rectangle 5"/>
          <p:cNvSpPr/>
          <p:nvPr/>
        </p:nvSpPr>
        <p:spPr>
          <a:xfrm>
            <a:off x="320040" y="3712464"/>
            <a:ext cx="2909742" cy="822960"/>
          </a:xfrm>
          <a:prstGeom prst="roundRect">
            <a:avLst>
              <a:gd name="adj" fmla="val 5000"/>
            </a:avLst>
          </a:prstGeom>
          <a:solidFill>
            <a:srgbClr val="FFF4E6"/>
          </a:solidFill>
          <a:ln w="12700">
            <a:solidFill>
              <a:srgbClr val="D4A57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Anticipatory action systems deployed</a:t>
            </a:r>
          </a:p>
        </p:txBody>
      </p:sp>
      <p:sp>
        <p:nvSpPr>
          <p:cNvPr id="7" name="Rounded Rectangle 6"/>
          <p:cNvSpPr/>
          <p:nvPr/>
        </p:nvSpPr>
        <p:spPr>
          <a:xfrm>
            <a:off x="3549822" y="2313432"/>
            <a:ext cx="3637178" cy="822960"/>
          </a:xfrm>
          <a:prstGeom prst="roundRect">
            <a:avLst>
              <a:gd name="adj" fmla="val 5000"/>
            </a:avLst>
          </a:prstGeom>
          <a:solidFill>
            <a:srgbClr val="FFF4E6"/>
          </a:solidFill>
          <a:ln w="12700">
            <a:solidFill>
              <a:srgbClr val="D4A57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AI-powered supply chains optimised</a:t>
            </a:r>
          </a:p>
        </p:txBody>
      </p:sp>
      <p:sp>
        <p:nvSpPr>
          <p:cNvPr id="8" name="Rounded Rectangle 7"/>
          <p:cNvSpPr/>
          <p:nvPr/>
        </p:nvSpPr>
        <p:spPr>
          <a:xfrm>
            <a:off x="3549822" y="3246120"/>
            <a:ext cx="3637178" cy="822960"/>
          </a:xfrm>
          <a:prstGeom prst="roundRect">
            <a:avLst>
              <a:gd name="adj" fmla="val 5000"/>
            </a:avLst>
          </a:prstGeom>
          <a:solidFill>
            <a:srgbClr val="FFF4E6"/>
          </a:solidFill>
          <a:ln w="12700">
            <a:solidFill>
              <a:srgbClr val="D4A57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Smallholder farmers supported</a:t>
            </a:r>
          </a:p>
        </p:txBody>
      </p:sp>
      <p:sp>
        <p:nvSpPr>
          <p:cNvPr id="9" name="Rounded Rectangle 8"/>
          <p:cNvSpPr/>
          <p:nvPr/>
        </p:nvSpPr>
        <p:spPr>
          <a:xfrm>
            <a:off x="3549822" y="4178808"/>
            <a:ext cx="3637178" cy="822960"/>
          </a:xfrm>
          <a:prstGeom prst="roundRect">
            <a:avLst>
              <a:gd name="adj" fmla="val 5000"/>
            </a:avLst>
          </a:prstGeom>
          <a:solidFill>
            <a:srgbClr val="FFF4E6"/>
          </a:solidFill>
          <a:ln w="12700">
            <a:solidFill>
              <a:srgbClr val="D4A57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Irrigation infrastructure built</a:t>
            </a:r>
          </a:p>
        </p:txBody>
      </p:sp>
      <p:sp>
        <p:nvSpPr>
          <p:cNvPr id="10" name="Rounded Rectangle 9"/>
          <p:cNvSpPr/>
          <p:nvPr/>
        </p:nvSpPr>
        <p:spPr>
          <a:xfrm>
            <a:off x="7507040" y="2779776"/>
            <a:ext cx="4364615" cy="822960"/>
          </a:xfrm>
          <a:prstGeom prst="roundRect">
            <a:avLst>
              <a:gd name="adj" fmla="val 5000"/>
            </a:avLst>
          </a:prstGeom>
          <a:solidFill>
            <a:srgbClr val="FFF4E6"/>
          </a:solidFill>
          <a:ln w="12700">
            <a:solidFill>
              <a:srgbClr val="D4A57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Acute food insecurity reduced</a:t>
            </a:r>
          </a:p>
        </p:txBody>
      </p:sp>
      <p:sp>
        <p:nvSpPr>
          <p:cNvPr id="11" name="Rounded Rectangle 10"/>
          <p:cNvSpPr/>
          <p:nvPr/>
        </p:nvSpPr>
        <p:spPr>
          <a:xfrm>
            <a:off x="7507040" y="3712464"/>
            <a:ext cx="4364615" cy="822960"/>
          </a:xfrm>
          <a:prstGeom prst="roundRect">
            <a:avLst>
              <a:gd name="adj" fmla="val 5000"/>
            </a:avLst>
          </a:prstGeom>
          <a:solidFill>
            <a:srgbClr val="FFF4E6"/>
          </a:solidFill>
          <a:ln w="12700">
            <a:solidFill>
              <a:srgbClr val="D4A57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Sustainable food production strengthened</a:t>
            </a:r>
          </a:p>
        </p:txBody>
      </p:sp>
      <p:sp>
        <p:nvSpPr>
          <p:cNvPr id="12" name="Right Arrow 11"/>
          <p:cNvSpPr/>
          <p:nvPr/>
        </p:nvSpPr>
        <p:spPr>
          <a:xfrm>
            <a:off x="3283122"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240340"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Water and Sanitation</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779776"/>
            <a:ext cx="2909742" cy="822960"/>
          </a:xfrm>
          <a:prstGeom prst="roundRect">
            <a:avLst>
              <a:gd name="adj" fmla="val 5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UN Water Conference convened</a:t>
            </a:r>
          </a:p>
        </p:txBody>
      </p:sp>
      <p:sp>
        <p:nvSpPr>
          <p:cNvPr id="6" name="Rounded Rectangle 5"/>
          <p:cNvSpPr/>
          <p:nvPr/>
        </p:nvSpPr>
        <p:spPr>
          <a:xfrm>
            <a:off x="320040" y="3712464"/>
            <a:ext cx="2909742" cy="822960"/>
          </a:xfrm>
          <a:prstGeom prst="roundRect">
            <a:avLst>
              <a:gd name="adj" fmla="val 5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Water investment mobilised</a:t>
            </a:r>
          </a:p>
        </p:txBody>
      </p:sp>
      <p:sp>
        <p:nvSpPr>
          <p:cNvPr id="7" name="Rounded Rectangle 6"/>
          <p:cNvSpPr/>
          <p:nvPr/>
        </p:nvSpPr>
        <p:spPr>
          <a:xfrm>
            <a:off x="3549822" y="2313432"/>
            <a:ext cx="3637178" cy="822960"/>
          </a:xfrm>
          <a:prstGeom prst="roundRect">
            <a:avLst>
              <a:gd name="adj" fmla="val 5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Drinking water systems built</a:t>
            </a:r>
          </a:p>
        </p:txBody>
      </p:sp>
      <p:sp>
        <p:nvSpPr>
          <p:cNvPr id="8" name="Rounded Rectangle 7"/>
          <p:cNvSpPr/>
          <p:nvPr/>
        </p:nvSpPr>
        <p:spPr>
          <a:xfrm>
            <a:off x="3549822" y="3246120"/>
            <a:ext cx="3637178" cy="822960"/>
          </a:xfrm>
          <a:prstGeom prst="roundRect">
            <a:avLst>
              <a:gd name="adj" fmla="val 5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Sanitation facilities improved</a:t>
            </a:r>
          </a:p>
        </p:txBody>
      </p:sp>
      <p:sp>
        <p:nvSpPr>
          <p:cNvPr id="9" name="Rounded Rectangle 8"/>
          <p:cNvSpPr/>
          <p:nvPr/>
        </p:nvSpPr>
        <p:spPr>
          <a:xfrm>
            <a:off x="3549822" y="4178808"/>
            <a:ext cx="3637178" cy="822960"/>
          </a:xfrm>
          <a:prstGeom prst="roundRect">
            <a:avLst>
              <a:gd name="adj" fmla="val 5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Microfinance for water expanded</a:t>
            </a:r>
          </a:p>
        </p:txBody>
      </p:sp>
      <p:sp>
        <p:nvSpPr>
          <p:cNvPr id="10" name="Rounded Rectangle 9"/>
          <p:cNvSpPr/>
          <p:nvPr/>
        </p:nvSpPr>
        <p:spPr>
          <a:xfrm>
            <a:off x="7507040" y="3246120"/>
            <a:ext cx="4364615" cy="822960"/>
          </a:xfrm>
          <a:prstGeom prst="roundRect">
            <a:avLst>
              <a:gd name="adj" fmla="val 5000"/>
            </a:avLst>
          </a:prstGeom>
          <a:solidFill>
            <a:srgbClr val="E1D5E7"/>
          </a:solidFill>
          <a:ln w="12700">
            <a:solidFill>
              <a:srgbClr val="9673A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Universal safe water access advanced</a:t>
            </a:r>
          </a:p>
        </p:txBody>
      </p:sp>
      <p:sp>
        <p:nvSpPr>
          <p:cNvPr id="11" name="Right Arrow 10"/>
          <p:cNvSpPr/>
          <p:nvPr/>
        </p:nvSpPr>
        <p:spPr>
          <a:xfrm>
            <a:off x="3283122"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7240340"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Nature and Biodiversity</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313432"/>
            <a:ext cx="3637178" cy="822960"/>
          </a:xfrm>
          <a:prstGeom prst="roundRect">
            <a:avLst>
              <a:gd name="adj" fmla="val 5000"/>
            </a:avLst>
          </a:prstGeom>
          <a:solidFill>
            <a:srgbClr val="FFE6CC"/>
          </a:solidFill>
          <a:ln w="12700">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Biodiversity framework reviewed at COP17</a:t>
            </a:r>
          </a:p>
        </p:txBody>
      </p:sp>
      <p:sp>
        <p:nvSpPr>
          <p:cNvPr id="6" name="Rounded Rectangle 5"/>
          <p:cNvSpPr/>
          <p:nvPr/>
        </p:nvSpPr>
        <p:spPr>
          <a:xfrm>
            <a:off x="320040" y="3246120"/>
            <a:ext cx="3637178" cy="822960"/>
          </a:xfrm>
          <a:prstGeom prst="roundRect">
            <a:avLst>
              <a:gd name="adj" fmla="val 5000"/>
            </a:avLst>
          </a:prstGeom>
          <a:solidFill>
            <a:srgbClr val="FFE6CC"/>
          </a:solidFill>
          <a:ln w="12700">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Nature finance tripled</a:t>
            </a:r>
          </a:p>
        </p:txBody>
      </p:sp>
      <p:sp>
        <p:nvSpPr>
          <p:cNvPr id="7" name="Rounded Rectangle 6"/>
          <p:cNvSpPr/>
          <p:nvPr/>
        </p:nvSpPr>
        <p:spPr>
          <a:xfrm>
            <a:off x="320040" y="4178808"/>
            <a:ext cx="3637178" cy="822960"/>
          </a:xfrm>
          <a:prstGeom prst="roundRect">
            <a:avLst>
              <a:gd name="adj" fmla="val 5000"/>
            </a:avLst>
          </a:prstGeom>
          <a:solidFill>
            <a:srgbClr val="FFE6CC"/>
          </a:solidFill>
          <a:ln w="12700">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Plastics treaty advanced</a:t>
            </a:r>
          </a:p>
        </p:txBody>
      </p:sp>
      <p:sp>
        <p:nvSpPr>
          <p:cNvPr id="8" name="Rounded Rectangle 7"/>
          <p:cNvSpPr/>
          <p:nvPr/>
        </p:nvSpPr>
        <p:spPr>
          <a:xfrm>
            <a:off x="4277258" y="2313432"/>
            <a:ext cx="3637178" cy="822960"/>
          </a:xfrm>
          <a:prstGeom prst="roundRect">
            <a:avLst>
              <a:gd name="adj" fmla="val 5000"/>
            </a:avLst>
          </a:prstGeom>
          <a:solidFill>
            <a:srgbClr val="FFE6CC"/>
          </a:solidFill>
          <a:ln w="12700">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Protected areas expanded</a:t>
            </a:r>
          </a:p>
        </p:txBody>
      </p:sp>
      <p:sp>
        <p:nvSpPr>
          <p:cNvPr id="9" name="Rounded Rectangle 8"/>
          <p:cNvSpPr/>
          <p:nvPr/>
        </p:nvSpPr>
        <p:spPr>
          <a:xfrm>
            <a:off x="4277258" y="3246120"/>
            <a:ext cx="3637178" cy="822960"/>
          </a:xfrm>
          <a:prstGeom prst="roundRect">
            <a:avLst>
              <a:gd name="adj" fmla="val 5000"/>
            </a:avLst>
          </a:prstGeom>
          <a:solidFill>
            <a:srgbClr val="FFE6CC"/>
          </a:solidFill>
          <a:ln w="12700">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Nature-based solutions scaled up</a:t>
            </a:r>
          </a:p>
        </p:txBody>
      </p:sp>
      <p:sp>
        <p:nvSpPr>
          <p:cNvPr id="10" name="Rounded Rectangle 9"/>
          <p:cNvSpPr/>
          <p:nvPr/>
        </p:nvSpPr>
        <p:spPr>
          <a:xfrm>
            <a:off x="4277258" y="4178808"/>
            <a:ext cx="3637178" cy="822960"/>
          </a:xfrm>
          <a:prstGeom prst="roundRect">
            <a:avLst>
              <a:gd name="adj" fmla="val 5000"/>
            </a:avLst>
          </a:prstGeom>
          <a:solidFill>
            <a:srgbClr val="FFE6CC"/>
          </a:solidFill>
          <a:ln w="12700">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Plastic pollution reduced</a:t>
            </a:r>
          </a:p>
        </p:txBody>
      </p:sp>
      <p:sp>
        <p:nvSpPr>
          <p:cNvPr id="11" name="Rounded Rectangle 10"/>
          <p:cNvSpPr/>
          <p:nvPr/>
        </p:nvSpPr>
        <p:spPr>
          <a:xfrm>
            <a:off x="8234476" y="2779776"/>
            <a:ext cx="3637179" cy="822960"/>
          </a:xfrm>
          <a:prstGeom prst="roundRect">
            <a:avLst>
              <a:gd name="adj" fmla="val 5000"/>
            </a:avLst>
          </a:prstGeom>
          <a:solidFill>
            <a:srgbClr val="FFE6CC"/>
          </a:solidFill>
          <a:ln w="12700">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Biodiversity loss slowed</a:t>
            </a:r>
          </a:p>
        </p:txBody>
      </p:sp>
      <p:sp>
        <p:nvSpPr>
          <p:cNvPr id="12" name="Rounded Rectangle 11"/>
          <p:cNvSpPr/>
          <p:nvPr/>
        </p:nvSpPr>
        <p:spPr>
          <a:xfrm>
            <a:off x="8234476" y="3712464"/>
            <a:ext cx="3637179" cy="822960"/>
          </a:xfrm>
          <a:prstGeom prst="roundRect">
            <a:avLst>
              <a:gd name="adj" fmla="val 5000"/>
            </a:avLst>
          </a:prstGeom>
          <a:solidFill>
            <a:srgbClr val="FFE6CC"/>
          </a:solidFill>
          <a:ln w="12700">
            <a:solidFill>
              <a:srgbClr val="D79B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Ecosystem services restored</a:t>
            </a:r>
          </a:p>
        </p:txBody>
      </p:sp>
      <p:sp>
        <p:nvSpPr>
          <p:cNvPr id="13" name="Right Arrow 12"/>
          <p:cNvSpPr/>
          <p:nvPr/>
        </p:nvSpPr>
        <p:spPr>
          <a:xfrm>
            <a:off x="4010558"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967776"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Education</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779776"/>
            <a:ext cx="2909742" cy="822960"/>
          </a:xfrm>
          <a:prstGeom prst="roundRect">
            <a:avLst>
              <a:gd name="adj" fmla="val 5000"/>
            </a:avLst>
          </a:prstGeom>
          <a:solidFill>
            <a:srgbClr val="D4E1F5"/>
          </a:solidFill>
          <a:ln w="12700">
            <a:solidFill>
              <a:srgbClr val="7EA6E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Education accelerator programmes launched</a:t>
            </a:r>
          </a:p>
        </p:txBody>
      </p:sp>
      <p:sp>
        <p:nvSpPr>
          <p:cNvPr id="6" name="Rounded Rectangle 5"/>
          <p:cNvSpPr/>
          <p:nvPr/>
        </p:nvSpPr>
        <p:spPr>
          <a:xfrm>
            <a:off x="320040" y="3712464"/>
            <a:ext cx="2909742" cy="822960"/>
          </a:xfrm>
          <a:prstGeom prst="roundRect">
            <a:avLst>
              <a:gd name="adj" fmla="val 5000"/>
            </a:avLst>
          </a:prstGeom>
          <a:solidFill>
            <a:srgbClr val="D4E1F5"/>
          </a:solidFill>
          <a:ln w="12700">
            <a:solidFill>
              <a:srgbClr val="7EA6E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Foundational learning coalitions formed</a:t>
            </a:r>
          </a:p>
        </p:txBody>
      </p:sp>
      <p:sp>
        <p:nvSpPr>
          <p:cNvPr id="7" name="Rounded Rectangle 6"/>
          <p:cNvSpPr/>
          <p:nvPr/>
        </p:nvSpPr>
        <p:spPr>
          <a:xfrm>
            <a:off x="3549822" y="2313432"/>
            <a:ext cx="3637178" cy="822960"/>
          </a:xfrm>
          <a:prstGeom prst="roundRect">
            <a:avLst>
              <a:gd name="adj" fmla="val 5000"/>
            </a:avLst>
          </a:prstGeom>
          <a:solidFill>
            <a:srgbClr val="D4E1F5"/>
          </a:solidFill>
          <a:ln w="12700">
            <a:solidFill>
              <a:srgbClr val="7EA6E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Quality teaching improved</a:t>
            </a:r>
          </a:p>
        </p:txBody>
      </p:sp>
      <p:sp>
        <p:nvSpPr>
          <p:cNvPr id="8" name="Rounded Rectangle 7"/>
          <p:cNvSpPr/>
          <p:nvPr/>
        </p:nvSpPr>
        <p:spPr>
          <a:xfrm>
            <a:off x="3549822" y="3246120"/>
            <a:ext cx="3637178" cy="822960"/>
          </a:xfrm>
          <a:prstGeom prst="roundRect">
            <a:avLst>
              <a:gd name="adj" fmla="val 5000"/>
            </a:avLst>
          </a:prstGeom>
          <a:solidFill>
            <a:srgbClr val="D4E1F5"/>
          </a:solidFill>
          <a:ln w="12700">
            <a:solidFill>
              <a:srgbClr val="7EA6E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Learning data systems established</a:t>
            </a:r>
          </a:p>
        </p:txBody>
      </p:sp>
      <p:sp>
        <p:nvSpPr>
          <p:cNvPr id="9" name="Rounded Rectangle 8"/>
          <p:cNvSpPr/>
          <p:nvPr/>
        </p:nvSpPr>
        <p:spPr>
          <a:xfrm>
            <a:off x="3549822" y="4178808"/>
            <a:ext cx="3637178" cy="822960"/>
          </a:xfrm>
          <a:prstGeom prst="roundRect">
            <a:avLst>
              <a:gd name="adj" fmla="val 5000"/>
            </a:avLst>
          </a:prstGeom>
          <a:solidFill>
            <a:srgbClr val="D4E1F5"/>
          </a:solidFill>
          <a:ln w="12700">
            <a:solidFill>
              <a:srgbClr val="7EA6E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Reading materials distributed widely</a:t>
            </a:r>
          </a:p>
        </p:txBody>
      </p:sp>
      <p:sp>
        <p:nvSpPr>
          <p:cNvPr id="10" name="Rounded Rectangle 9"/>
          <p:cNvSpPr/>
          <p:nvPr/>
        </p:nvSpPr>
        <p:spPr>
          <a:xfrm>
            <a:off x="7507040" y="2779776"/>
            <a:ext cx="4364615" cy="822960"/>
          </a:xfrm>
          <a:prstGeom prst="roundRect">
            <a:avLst>
              <a:gd name="adj" fmla="val 5000"/>
            </a:avLst>
          </a:prstGeom>
          <a:solidFill>
            <a:srgbClr val="D4E1F5"/>
          </a:solidFill>
          <a:ln w="12700">
            <a:solidFill>
              <a:srgbClr val="7EA6E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Learning poverty reduced</a:t>
            </a:r>
          </a:p>
        </p:txBody>
      </p:sp>
      <p:sp>
        <p:nvSpPr>
          <p:cNvPr id="11" name="Rounded Rectangle 10"/>
          <p:cNvSpPr/>
          <p:nvPr/>
        </p:nvSpPr>
        <p:spPr>
          <a:xfrm>
            <a:off x="7507040" y="3712464"/>
            <a:ext cx="4364615" cy="822960"/>
          </a:xfrm>
          <a:prstGeom prst="roundRect">
            <a:avLst>
              <a:gd name="adj" fmla="val 5000"/>
            </a:avLst>
          </a:prstGeom>
          <a:solidFill>
            <a:srgbClr val="D4E1F5"/>
          </a:solidFill>
          <a:ln w="12700">
            <a:solidFill>
              <a:srgbClr val="7EA6E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Foundational skills strengthened</a:t>
            </a:r>
          </a:p>
        </p:txBody>
      </p:sp>
      <p:sp>
        <p:nvSpPr>
          <p:cNvPr id="12" name="Right Arrow 11"/>
          <p:cNvSpPr/>
          <p:nvPr/>
        </p:nvSpPr>
        <p:spPr>
          <a:xfrm>
            <a:off x="3283122"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240340"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AI and Technology Governance</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313432"/>
            <a:ext cx="3637178" cy="822960"/>
          </a:xfrm>
          <a:prstGeom prst="roundRect">
            <a:avLst>
              <a:gd name="adj" fmla="val 5000"/>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EU AI Act enforced</a:t>
            </a:r>
          </a:p>
        </p:txBody>
      </p:sp>
      <p:sp>
        <p:nvSpPr>
          <p:cNvPr id="6" name="Rounded Rectangle 5"/>
          <p:cNvSpPr/>
          <p:nvPr/>
        </p:nvSpPr>
        <p:spPr>
          <a:xfrm>
            <a:off x="320040" y="3246120"/>
            <a:ext cx="3637178" cy="822960"/>
          </a:xfrm>
          <a:prstGeom prst="roundRect">
            <a:avLst>
              <a:gd name="adj" fmla="val 5000"/>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National AI laws enacted</a:t>
            </a:r>
          </a:p>
        </p:txBody>
      </p:sp>
      <p:sp>
        <p:nvSpPr>
          <p:cNvPr id="7" name="Rounded Rectangle 6"/>
          <p:cNvSpPr/>
          <p:nvPr/>
        </p:nvSpPr>
        <p:spPr>
          <a:xfrm>
            <a:off x="320040" y="4178808"/>
            <a:ext cx="3637178" cy="822960"/>
          </a:xfrm>
          <a:prstGeom prst="roundRect">
            <a:avLst>
              <a:gd name="adj" fmla="val 5000"/>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UN AI governance dialogue convened</a:t>
            </a:r>
          </a:p>
        </p:txBody>
      </p:sp>
      <p:sp>
        <p:nvSpPr>
          <p:cNvPr id="8" name="Rounded Rectangle 7"/>
          <p:cNvSpPr/>
          <p:nvPr/>
        </p:nvSpPr>
        <p:spPr>
          <a:xfrm>
            <a:off x="4277258" y="2779776"/>
            <a:ext cx="2909742" cy="822960"/>
          </a:xfrm>
          <a:prstGeom prst="roundRect">
            <a:avLst>
              <a:gd name="adj" fmla="val 5000"/>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AI transparency requirements met</a:t>
            </a:r>
          </a:p>
        </p:txBody>
      </p:sp>
      <p:sp>
        <p:nvSpPr>
          <p:cNvPr id="9" name="Rounded Rectangle 8"/>
          <p:cNvSpPr/>
          <p:nvPr/>
        </p:nvSpPr>
        <p:spPr>
          <a:xfrm>
            <a:off x="4277258" y="3712464"/>
            <a:ext cx="2909742" cy="822960"/>
          </a:xfrm>
          <a:prstGeom prst="roundRect">
            <a:avLst>
              <a:gd name="adj" fmla="val 5000"/>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Internet connectivity expanded</a:t>
            </a:r>
          </a:p>
        </p:txBody>
      </p:sp>
      <p:sp>
        <p:nvSpPr>
          <p:cNvPr id="10" name="Rounded Rectangle 9"/>
          <p:cNvSpPr/>
          <p:nvPr/>
        </p:nvSpPr>
        <p:spPr>
          <a:xfrm>
            <a:off x="7507040" y="2313432"/>
            <a:ext cx="4364615" cy="822960"/>
          </a:xfrm>
          <a:prstGeom prst="roundRect">
            <a:avLst>
              <a:gd name="adj" fmla="val 5000"/>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AI governed responsibly worldwide</a:t>
            </a:r>
          </a:p>
        </p:txBody>
      </p:sp>
      <p:sp>
        <p:nvSpPr>
          <p:cNvPr id="11" name="Rounded Rectangle 10"/>
          <p:cNvSpPr/>
          <p:nvPr/>
        </p:nvSpPr>
        <p:spPr>
          <a:xfrm>
            <a:off x="7507040" y="3246120"/>
            <a:ext cx="4364615" cy="822960"/>
          </a:xfrm>
          <a:prstGeom prst="roundRect">
            <a:avLst>
              <a:gd name="adj" fmla="val 5000"/>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Digital divide narrowed</a:t>
            </a:r>
          </a:p>
        </p:txBody>
      </p:sp>
      <p:sp>
        <p:nvSpPr>
          <p:cNvPr id="12" name="Rounded Rectangle 11"/>
          <p:cNvSpPr/>
          <p:nvPr/>
        </p:nvSpPr>
        <p:spPr>
          <a:xfrm>
            <a:off x="7507040" y="4178808"/>
            <a:ext cx="4364615" cy="822960"/>
          </a:xfrm>
          <a:prstGeom prst="roundRect">
            <a:avLst>
              <a:gd name="adj" fmla="val 5000"/>
            </a:avLst>
          </a:prstGeom>
          <a:solidFill>
            <a:srgbClr val="F5F5F5"/>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Technology harnessed for public good</a:t>
            </a:r>
          </a:p>
        </p:txBody>
      </p:sp>
      <p:sp>
        <p:nvSpPr>
          <p:cNvPr id="13" name="Right Arrow 12"/>
          <p:cNvSpPr/>
          <p:nvPr/>
        </p:nvSpPr>
        <p:spPr>
          <a:xfrm>
            <a:off x="4010558"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240340"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Gender Equality</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Rounded Rectangle 4"/>
          <p:cNvSpPr/>
          <p:nvPr/>
        </p:nvSpPr>
        <p:spPr>
          <a:xfrm>
            <a:off x="320040" y="2313432"/>
            <a:ext cx="3637178"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Gender equality action plans adopted</a:t>
            </a:r>
          </a:p>
        </p:txBody>
      </p:sp>
      <p:sp>
        <p:nvSpPr>
          <p:cNvPr id="6" name="Rounded Rectangle 5"/>
          <p:cNvSpPr/>
          <p:nvPr/>
        </p:nvSpPr>
        <p:spPr>
          <a:xfrm>
            <a:off x="320040" y="3246120"/>
            <a:ext cx="3637178"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Discriminatory laws identified</a:t>
            </a:r>
          </a:p>
        </p:txBody>
      </p:sp>
      <p:sp>
        <p:nvSpPr>
          <p:cNvPr id="7" name="Rounded Rectangle 6"/>
          <p:cNvSpPr/>
          <p:nvPr/>
        </p:nvSpPr>
        <p:spPr>
          <a:xfrm>
            <a:off x="320040" y="4178808"/>
            <a:ext cx="3637178"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Women’s justice access prioritised</a:t>
            </a:r>
          </a:p>
        </p:txBody>
      </p:sp>
      <p:sp>
        <p:nvSpPr>
          <p:cNvPr id="8" name="Rounded Rectangle 7"/>
          <p:cNvSpPr/>
          <p:nvPr/>
        </p:nvSpPr>
        <p:spPr>
          <a:xfrm>
            <a:off x="4277258" y="2779776"/>
            <a:ext cx="2909742"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Legal reforms enacted</a:t>
            </a:r>
          </a:p>
        </p:txBody>
      </p:sp>
      <p:sp>
        <p:nvSpPr>
          <p:cNvPr id="9" name="Rounded Rectangle 8"/>
          <p:cNvSpPr/>
          <p:nvPr/>
        </p:nvSpPr>
        <p:spPr>
          <a:xfrm>
            <a:off x="4277258" y="3712464"/>
            <a:ext cx="2909742"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0">
                <a:solidFill>
                  <a:srgbClr val="000000"/>
                </a:solidFill>
                <a:latin typeface="Calibri"/>
              </a:rPr>
              <a:t>Gender-responsive policies implemented</a:t>
            </a:r>
          </a:p>
        </p:txBody>
      </p:sp>
      <p:sp>
        <p:nvSpPr>
          <p:cNvPr id="10" name="Rounded Rectangle 9"/>
          <p:cNvSpPr/>
          <p:nvPr/>
        </p:nvSpPr>
        <p:spPr>
          <a:xfrm>
            <a:off x="7507040" y="2779776"/>
            <a:ext cx="4364615"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Gender legal parity advanced</a:t>
            </a:r>
          </a:p>
        </p:txBody>
      </p:sp>
      <p:sp>
        <p:nvSpPr>
          <p:cNvPr id="11" name="Rounded Rectangle 10"/>
          <p:cNvSpPr/>
          <p:nvPr/>
        </p:nvSpPr>
        <p:spPr>
          <a:xfrm>
            <a:off x="7507040" y="3712464"/>
            <a:ext cx="4364615" cy="822960"/>
          </a:xfrm>
          <a:prstGeom prst="roundRect">
            <a:avLst>
              <a:gd name="adj" fmla="val 5000"/>
            </a:avLst>
          </a:prstGeom>
          <a:solidFill>
            <a:srgbClr val="FFF2CC"/>
          </a:solidFill>
          <a:ln w="12700">
            <a:solidFill>
              <a:srgbClr val="D6B656"/>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00000"/>
                </a:solidFill>
                <a:latin typeface="Calibri"/>
              </a:rPr>
              <a:t>Women fully empowered</a:t>
            </a:r>
          </a:p>
        </p:txBody>
      </p:sp>
      <p:sp>
        <p:nvSpPr>
          <p:cNvPr id="12" name="Right Arrow 11"/>
          <p:cNvSpPr/>
          <p:nvPr/>
        </p:nvSpPr>
        <p:spPr>
          <a:xfrm>
            <a:off x="4010558"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240340" y="3575304"/>
            <a:ext cx="213360" cy="164592"/>
          </a:xfrm>
          <a:prstGeom prst="rightArrow">
            <a:avLst/>
          </a:prstGeom>
          <a:solidFill>
            <a:srgbClr val="C8C8C8"/>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What is a DoView?</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TextBox 4"/>
          <p:cNvSpPr txBox="1"/>
          <p:nvPr/>
        </p:nvSpPr>
        <p:spPr>
          <a:xfrm>
            <a:off x="320040" y="822960"/>
            <a:ext cx="11551615" cy="5669280"/>
          </a:xfrm>
          <a:prstGeom prst="rect">
            <a:avLst/>
          </a:prstGeom>
          <a:noFill/>
        </p:spPr>
        <p:txBody>
          <a:bodyPr wrap="square">
            <a:spAutoFit/>
          </a:bodyPr>
          <a:lstStyle/>
          <a:p>
            <a:r>
              <a:rPr sz="1300">
                <a:solidFill>
                  <a:srgbClr val="000000"/>
                </a:solidFill>
                <a:latin typeface="Calibri"/>
              </a:rPr>
              <a:t>A DoView is a visual diagram that shows the theory of change or outcomes model for an initiative, programme, or strategy. It maps the causal relationships between activities, outputs, and outcomes, flowing from left to right to show how earlier achievements lead to later results.
DoView diagrams help stakeholders:
• Understand the logic behind an initiative
• Identify key outcomes and how they connect
• Plan evaluation and monitoring activities
• Communicate strategy clearly to diverse audiences
For more information, visit DoViewPlanning.org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37160"/>
            <a:ext cx="7315200" cy="502920"/>
          </a:xfrm>
          <a:prstGeom prst="rect">
            <a:avLst/>
          </a:prstGeom>
          <a:noFill/>
        </p:spPr>
        <p:txBody>
          <a:bodyPr wrap="square">
            <a:spAutoFit/>
          </a:bodyPr>
          <a:lstStyle/>
          <a:p>
            <a:r>
              <a:rPr sz="2000" b="1">
                <a:solidFill>
                  <a:srgbClr val="000000"/>
                </a:solidFill>
                <a:latin typeface="Calibri"/>
              </a:rPr>
              <a:t>Sources</a:t>
            </a:r>
          </a:p>
        </p:txBody>
      </p:sp>
      <p:sp>
        <p:nvSpPr>
          <p:cNvPr id="3" name="TextBox 2"/>
          <p:cNvSpPr txBox="1"/>
          <p:nvPr/>
        </p:nvSpPr>
        <p:spPr>
          <a:xfrm>
            <a:off x="9494215" y="91440"/>
            <a:ext cx="2560320" cy="640080"/>
          </a:xfrm>
          <a:prstGeom prst="rect">
            <a:avLst/>
          </a:prstGeom>
          <a:noFill/>
        </p:spPr>
        <p:txBody>
          <a:bodyPr wrap="square">
            <a:spAutoFit/>
          </a:bodyPr>
          <a:lstStyle/>
          <a:p>
            <a:pPr algn="r"/>
            <a:r>
              <a:rPr sz="1200">
                <a:solidFill>
                  <a:srgbClr val="787878"/>
                </a:solidFill>
                <a:latin typeface="Calibri"/>
              </a:rPr>
              <a:t>Illustrative only –
Not created or endorsed by Dr Paul Duignan</a:t>
            </a:r>
          </a:p>
        </p:txBody>
      </p:sp>
      <p:sp>
        <p:nvSpPr>
          <p:cNvPr id="4" name="TextBox 3"/>
          <p:cNvSpPr txBox="1"/>
          <p:nvPr/>
        </p:nvSpPr>
        <p:spPr>
          <a:xfrm>
            <a:off x="320040" y="6537960"/>
            <a:ext cx="11551615" cy="228600"/>
          </a:xfrm>
          <a:prstGeom prst="rect">
            <a:avLst/>
          </a:prstGeom>
          <a:noFill/>
        </p:spPr>
        <p:txBody>
          <a:bodyPr wrap="square">
            <a:spAutoFit/>
          </a:bodyPr>
          <a:lstStyle/>
          <a:p>
            <a:pPr algn="ctr"/>
            <a:r>
              <a:rPr sz="900">
                <a:solidFill>
                  <a:srgbClr val="999999"/>
                </a:solidFill>
                <a:latin typeface="Calibri"/>
              </a:rPr>
              <a:t>DoView® is a registered trademark. Adapted from DoViewPlanning.org | Generated 2026-02-05</a:t>
            </a:r>
          </a:p>
        </p:txBody>
      </p:sp>
      <p:sp>
        <p:nvSpPr>
          <p:cNvPr id="5" name="TextBox 4"/>
          <p:cNvSpPr txBox="1"/>
          <p:nvPr/>
        </p:nvSpPr>
        <p:spPr>
          <a:xfrm>
            <a:off x="320040" y="914400"/>
            <a:ext cx="5592927" cy="256032"/>
          </a:xfrm>
          <a:prstGeom prst="rect">
            <a:avLst/>
          </a:prstGeom>
          <a:noFill/>
        </p:spPr>
        <p:txBody>
          <a:bodyPr wrap="square" lIns="18288">
            <a:spAutoFit/>
          </a:bodyPr>
          <a:lstStyle/>
          <a:p>
            <a:r>
              <a:rPr sz="1000" u="sng">
                <a:solidFill>
                  <a:srgbClr val="0000FF"/>
                </a:solidFill>
                <a:latin typeface="Calibri"/>
                <a:hlinkClick r:id="rId2"/>
              </a:rPr>
              <a:t>10 Conflicts to Watch in 2026 – International Crisis Group</a:t>
            </a:r>
          </a:p>
        </p:txBody>
      </p:sp>
      <p:sp>
        <p:nvSpPr>
          <p:cNvPr id="6" name="TextBox 5"/>
          <p:cNvSpPr txBox="1"/>
          <p:nvPr/>
        </p:nvSpPr>
        <p:spPr>
          <a:xfrm>
            <a:off x="320040" y="1243584"/>
            <a:ext cx="5592927" cy="256032"/>
          </a:xfrm>
          <a:prstGeom prst="rect">
            <a:avLst/>
          </a:prstGeom>
          <a:noFill/>
        </p:spPr>
        <p:txBody>
          <a:bodyPr wrap="square" lIns="18288">
            <a:spAutoFit/>
          </a:bodyPr>
          <a:lstStyle/>
          <a:p>
            <a:r>
              <a:rPr sz="1000" u="sng">
                <a:solidFill>
                  <a:srgbClr val="0000FF"/>
                </a:solidFill>
                <a:latin typeface="Calibri"/>
                <a:hlinkClick r:id="rId3"/>
              </a:rPr>
              <a:t>Top Risks 2026 – Eurasia Group</a:t>
            </a:r>
          </a:p>
        </p:txBody>
      </p:sp>
      <p:sp>
        <p:nvSpPr>
          <p:cNvPr id="7" name="TextBox 6"/>
          <p:cNvSpPr txBox="1"/>
          <p:nvPr/>
        </p:nvSpPr>
        <p:spPr>
          <a:xfrm>
            <a:off x="320040" y="1572768"/>
            <a:ext cx="5592927" cy="256032"/>
          </a:xfrm>
          <a:prstGeom prst="rect">
            <a:avLst/>
          </a:prstGeom>
          <a:noFill/>
        </p:spPr>
        <p:txBody>
          <a:bodyPr wrap="square" lIns="18288">
            <a:spAutoFit/>
          </a:bodyPr>
          <a:lstStyle/>
          <a:p>
            <a:r>
              <a:rPr sz="1000" u="sng">
                <a:solidFill>
                  <a:srgbClr val="0000FF"/>
                </a:solidFill>
                <a:latin typeface="Calibri"/>
                <a:hlinkClick r:id="rId4"/>
              </a:rPr>
              <a:t>Global Risks Report 2026 – World Economic Forum</a:t>
            </a:r>
          </a:p>
        </p:txBody>
      </p:sp>
      <p:sp>
        <p:nvSpPr>
          <p:cNvPr id="8" name="TextBox 7"/>
          <p:cNvSpPr txBox="1"/>
          <p:nvPr/>
        </p:nvSpPr>
        <p:spPr>
          <a:xfrm>
            <a:off x="320040" y="1901952"/>
            <a:ext cx="5592927" cy="256032"/>
          </a:xfrm>
          <a:prstGeom prst="rect">
            <a:avLst/>
          </a:prstGeom>
          <a:noFill/>
        </p:spPr>
        <p:txBody>
          <a:bodyPr wrap="square" lIns="18288">
            <a:spAutoFit/>
          </a:bodyPr>
          <a:lstStyle/>
          <a:p>
            <a:r>
              <a:rPr sz="1000" u="sng">
                <a:solidFill>
                  <a:srgbClr val="0000FF"/>
                </a:solidFill>
                <a:latin typeface="Calibri"/>
                <a:hlinkClick r:id="rId5"/>
              </a:rPr>
              <a:t>COP30 Outcomes – World Resources Institute</a:t>
            </a:r>
          </a:p>
        </p:txBody>
      </p:sp>
      <p:sp>
        <p:nvSpPr>
          <p:cNvPr id="9" name="TextBox 8"/>
          <p:cNvSpPr txBox="1"/>
          <p:nvPr/>
        </p:nvSpPr>
        <p:spPr>
          <a:xfrm>
            <a:off x="320040" y="2231136"/>
            <a:ext cx="5592927" cy="256032"/>
          </a:xfrm>
          <a:prstGeom prst="rect">
            <a:avLst/>
          </a:prstGeom>
          <a:noFill/>
        </p:spPr>
        <p:txBody>
          <a:bodyPr wrap="square" lIns="18288">
            <a:spAutoFit/>
          </a:bodyPr>
          <a:lstStyle/>
          <a:p>
            <a:r>
              <a:rPr sz="1000" u="sng">
                <a:solidFill>
                  <a:srgbClr val="0000FF"/>
                </a:solidFill>
                <a:latin typeface="Calibri"/>
                <a:hlinkClick r:id="rId6"/>
              </a:rPr>
              <a:t>Energy Transition Investment 2025 – BloombergNEF</a:t>
            </a:r>
          </a:p>
        </p:txBody>
      </p:sp>
      <p:sp>
        <p:nvSpPr>
          <p:cNvPr id="10" name="TextBox 9"/>
          <p:cNvSpPr txBox="1"/>
          <p:nvPr/>
        </p:nvSpPr>
        <p:spPr>
          <a:xfrm>
            <a:off x="320040" y="2560320"/>
            <a:ext cx="5592927" cy="256032"/>
          </a:xfrm>
          <a:prstGeom prst="rect">
            <a:avLst/>
          </a:prstGeom>
          <a:noFill/>
        </p:spPr>
        <p:txBody>
          <a:bodyPr wrap="square" lIns="18288">
            <a:spAutoFit/>
          </a:bodyPr>
          <a:lstStyle/>
          <a:p>
            <a:r>
              <a:rPr sz="1000" u="sng">
                <a:solidFill>
                  <a:srgbClr val="0000FF"/>
                </a:solidFill>
                <a:latin typeface="Calibri"/>
                <a:hlinkClick r:id="rId7"/>
              </a:rPr>
              <a:t>Energy Transition 2026: 10 Trends – RMI</a:t>
            </a:r>
          </a:p>
        </p:txBody>
      </p:sp>
      <p:sp>
        <p:nvSpPr>
          <p:cNvPr id="11" name="TextBox 10"/>
          <p:cNvSpPr txBox="1"/>
          <p:nvPr/>
        </p:nvSpPr>
        <p:spPr>
          <a:xfrm>
            <a:off x="320040" y="2889504"/>
            <a:ext cx="5592927" cy="256032"/>
          </a:xfrm>
          <a:prstGeom prst="rect">
            <a:avLst/>
          </a:prstGeom>
          <a:noFill/>
        </p:spPr>
        <p:txBody>
          <a:bodyPr wrap="square" lIns="18288">
            <a:spAutoFit/>
          </a:bodyPr>
          <a:lstStyle/>
          <a:p>
            <a:r>
              <a:rPr sz="1000" u="sng">
                <a:solidFill>
                  <a:srgbClr val="0000FF"/>
                </a:solidFill>
                <a:latin typeface="Calibri"/>
                <a:hlinkClick r:id="rId8"/>
              </a:rPr>
              <a:t>WHO 2026 Appeal</a:t>
            </a:r>
          </a:p>
        </p:txBody>
      </p:sp>
      <p:sp>
        <p:nvSpPr>
          <p:cNvPr id="12" name="TextBox 11"/>
          <p:cNvSpPr txBox="1"/>
          <p:nvPr/>
        </p:nvSpPr>
        <p:spPr>
          <a:xfrm>
            <a:off x="320040" y="3218688"/>
            <a:ext cx="5592927" cy="256032"/>
          </a:xfrm>
          <a:prstGeom prst="rect">
            <a:avLst/>
          </a:prstGeom>
          <a:noFill/>
        </p:spPr>
        <p:txBody>
          <a:bodyPr wrap="square" lIns="18288">
            <a:spAutoFit/>
          </a:bodyPr>
          <a:lstStyle/>
          <a:p>
            <a:r>
              <a:rPr sz="1000" u="sng">
                <a:solidFill>
                  <a:srgbClr val="0000FF"/>
                </a:solidFill>
                <a:latin typeface="Calibri"/>
                <a:hlinkClick r:id="rId9"/>
              </a:rPr>
              <a:t>Pandemic Preparedness – WHO</a:t>
            </a:r>
          </a:p>
        </p:txBody>
      </p:sp>
      <p:sp>
        <p:nvSpPr>
          <p:cNvPr id="13" name="TextBox 12"/>
          <p:cNvSpPr txBox="1"/>
          <p:nvPr/>
        </p:nvSpPr>
        <p:spPr>
          <a:xfrm>
            <a:off x="320040" y="3547872"/>
            <a:ext cx="5592927" cy="256032"/>
          </a:xfrm>
          <a:prstGeom prst="rect">
            <a:avLst/>
          </a:prstGeom>
          <a:noFill/>
        </p:spPr>
        <p:txBody>
          <a:bodyPr wrap="square" lIns="18288">
            <a:spAutoFit/>
          </a:bodyPr>
          <a:lstStyle/>
          <a:p>
            <a:r>
              <a:rPr sz="1000" u="sng">
                <a:solidFill>
                  <a:srgbClr val="0000FF"/>
                </a:solidFill>
                <a:latin typeface="Calibri"/>
                <a:hlinkClick r:id="rId10"/>
              </a:rPr>
              <a:t>Poverty Overview – World Bank</a:t>
            </a:r>
          </a:p>
        </p:txBody>
      </p:sp>
      <p:sp>
        <p:nvSpPr>
          <p:cNvPr id="14" name="TextBox 13"/>
          <p:cNvSpPr txBox="1"/>
          <p:nvPr/>
        </p:nvSpPr>
        <p:spPr>
          <a:xfrm>
            <a:off x="6278727" y="914400"/>
            <a:ext cx="5592927" cy="256032"/>
          </a:xfrm>
          <a:prstGeom prst="rect">
            <a:avLst/>
          </a:prstGeom>
          <a:noFill/>
        </p:spPr>
        <p:txBody>
          <a:bodyPr wrap="square" lIns="18288">
            <a:spAutoFit/>
          </a:bodyPr>
          <a:lstStyle/>
          <a:p>
            <a:r>
              <a:rPr sz="1000" u="sng">
                <a:solidFill>
                  <a:srgbClr val="0000FF"/>
                </a:solidFill>
                <a:latin typeface="Calibri"/>
                <a:hlinkClick r:id="rId11"/>
              </a:rPr>
              <a:t>Inequality Report – Oxfam</a:t>
            </a:r>
          </a:p>
        </p:txBody>
      </p:sp>
      <p:sp>
        <p:nvSpPr>
          <p:cNvPr id="15" name="TextBox 14"/>
          <p:cNvSpPr txBox="1"/>
          <p:nvPr/>
        </p:nvSpPr>
        <p:spPr>
          <a:xfrm>
            <a:off x="6278727" y="1243584"/>
            <a:ext cx="5592927" cy="256032"/>
          </a:xfrm>
          <a:prstGeom prst="rect">
            <a:avLst/>
          </a:prstGeom>
          <a:noFill/>
        </p:spPr>
        <p:txBody>
          <a:bodyPr wrap="square" lIns="18288">
            <a:spAutoFit/>
          </a:bodyPr>
          <a:lstStyle/>
          <a:p>
            <a:r>
              <a:rPr sz="1000" u="sng">
                <a:solidFill>
                  <a:srgbClr val="0000FF"/>
                </a:solidFill>
                <a:latin typeface="Calibri"/>
                <a:hlinkClick r:id="rId12"/>
              </a:rPr>
              <a:t>WFP Global Outlook 2026</a:t>
            </a:r>
          </a:p>
        </p:txBody>
      </p:sp>
      <p:sp>
        <p:nvSpPr>
          <p:cNvPr id="16" name="TextBox 15"/>
          <p:cNvSpPr txBox="1"/>
          <p:nvPr/>
        </p:nvSpPr>
        <p:spPr>
          <a:xfrm>
            <a:off x="6278727" y="1572768"/>
            <a:ext cx="5592927" cy="256032"/>
          </a:xfrm>
          <a:prstGeom prst="rect">
            <a:avLst/>
          </a:prstGeom>
          <a:noFill/>
        </p:spPr>
        <p:txBody>
          <a:bodyPr wrap="square" lIns="18288">
            <a:spAutoFit/>
          </a:bodyPr>
          <a:lstStyle/>
          <a:p>
            <a:r>
              <a:rPr sz="1000" u="sng">
                <a:solidFill>
                  <a:srgbClr val="0000FF"/>
                </a:solidFill>
                <a:latin typeface="Calibri"/>
                <a:hlinkClick r:id="rId13"/>
              </a:rPr>
              <a:t>World Water Development Report 2026 – UNESCO</a:t>
            </a:r>
          </a:p>
        </p:txBody>
      </p:sp>
      <p:sp>
        <p:nvSpPr>
          <p:cNvPr id="17" name="TextBox 16"/>
          <p:cNvSpPr txBox="1"/>
          <p:nvPr/>
        </p:nvSpPr>
        <p:spPr>
          <a:xfrm>
            <a:off x="6278727" y="1901952"/>
            <a:ext cx="5592927" cy="256032"/>
          </a:xfrm>
          <a:prstGeom prst="rect">
            <a:avLst/>
          </a:prstGeom>
          <a:noFill/>
        </p:spPr>
        <p:txBody>
          <a:bodyPr wrap="square" lIns="18288">
            <a:spAutoFit/>
          </a:bodyPr>
          <a:lstStyle/>
          <a:p>
            <a:r>
              <a:rPr sz="1000" u="sng">
                <a:solidFill>
                  <a:srgbClr val="0000FF"/>
                </a:solidFill>
                <a:latin typeface="Calibri"/>
                <a:hlinkClick r:id="rId14"/>
              </a:rPr>
              <a:t>State of Finance for Nature 2026 – UNEP</a:t>
            </a:r>
          </a:p>
        </p:txBody>
      </p:sp>
      <p:sp>
        <p:nvSpPr>
          <p:cNvPr id="18" name="TextBox 17"/>
          <p:cNvSpPr txBox="1"/>
          <p:nvPr/>
        </p:nvSpPr>
        <p:spPr>
          <a:xfrm>
            <a:off x="6278727" y="2231136"/>
            <a:ext cx="5592927" cy="256032"/>
          </a:xfrm>
          <a:prstGeom prst="rect">
            <a:avLst/>
          </a:prstGeom>
          <a:noFill/>
        </p:spPr>
        <p:txBody>
          <a:bodyPr wrap="square" lIns="18288">
            <a:spAutoFit/>
          </a:bodyPr>
          <a:lstStyle/>
          <a:p>
            <a:r>
              <a:rPr sz="1000" u="sng">
                <a:solidFill>
                  <a:srgbClr val="0000FF"/>
                </a:solidFill>
                <a:latin typeface="Calibri"/>
                <a:hlinkClick r:id="rId15"/>
              </a:rPr>
              <a:t>Global Plastics Treaty – UNEP</a:t>
            </a:r>
          </a:p>
        </p:txBody>
      </p:sp>
      <p:sp>
        <p:nvSpPr>
          <p:cNvPr id="19" name="TextBox 18"/>
          <p:cNvSpPr txBox="1"/>
          <p:nvPr/>
        </p:nvSpPr>
        <p:spPr>
          <a:xfrm>
            <a:off x="6278727" y="2560320"/>
            <a:ext cx="5592927" cy="256032"/>
          </a:xfrm>
          <a:prstGeom prst="rect">
            <a:avLst/>
          </a:prstGeom>
          <a:noFill/>
        </p:spPr>
        <p:txBody>
          <a:bodyPr wrap="square" lIns="18288">
            <a:spAutoFit/>
          </a:bodyPr>
          <a:lstStyle/>
          <a:p>
            <a:r>
              <a:rPr sz="1000" u="sng">
                <a:solidFill>
                  <a:srgbClr val="0000FF"/>
                </a:solidFill>
                <a:latin typeface="Calibri"/>
                <a:hlinkClick r:id="rId16"/>
              </a:rPr>
              <a:t>Education Overview – World Bank</a:t>
            </a:r>
          </a:p>
        </p:txBody>
      </p:sp>
      <p:sp>
        <p:nvSpPr>
          <p:cNvPr id="20" name="TextBox 19"/>
          <p:cNvSpPr txBox="1"/>
          <p:nvPr/>
        </p:nvSpPr>
        <p:spPr>
          <a:xfrm>
            <a:off x="6278727" y="2889504"/>
            <a:ext cx="5592927" cy="256032"/>
          </a:xfrm>
          <a:prstGeom prst="rect">
            <a:avLst/>
          </a:prstGeom>
          <a:noFill/>
        </p:spPr>
        <p:txBody>
          <a:bodyPr wrap="square" lIns="18288">
            <a:spAutoFit/>
          </a:bodyPr>
          <a:lstStyle/>
          <a:p>
            <a:r>
              <a:rPr sz="1000" u="sng">
                <a:solidFill>
                  <a:srgbClr val="0000FF"/>
                </a:solidFill>
                <a:latin typeface="Calibri"/>
                <a:hlinkClick r:id="rId17"/>
              </a:rPr>
              <a:t>AI Regulations 2026 – Mind Foundry</a:t>
            </a:r>
          </a:p>
        </p:txBody>
      </p:sp>
      <p:sp>
        <p:nvSpPr>
          <p:cNvPr id="21" name="TextBox 20"/>
          <p:cNvSpPr txBox="1"/>
          <p:nvPr/>
        </p:nvSpPr>
        <p:spPr>
          <a:xfrm>
            <a:off x="6278727" y="3218688"/>
            <a:ext cx="5592927" cy="256032"/>
          </a:xfrm>
          <a:prstGeom prst="rect">
            <a:avLst/>
          </a:prstGeom>
          <a:noFill/>
        </p:spPr>
        <p:txBody>
          <a:bodyPr wrap="square" lIns="18288">
            <a:spAutoFit/>
          </a:bodyPr>
          <a:lstStyle/>
          <a:p>
            <a:r>
              <a:rPr sz="1000" u="sng">
                <a:solidFill>
                  <a:srgbClr val="0000FF"/>
                </a:solidFill>
                <a:latin typeface="Calibri"/>
                <a:hlinkClick r:id="rId18"/>
              </a:rPr>
              <a:t>UN Women Strategic Plan 2026–2029</a:t>
            </a:r>
          </a:p>
        </p:txBody>
      </p:sp>
      <p:sp>
        <p:nvSpPr>
          <p:cNvPr id="22" name="TextBox 21"/>
          <p:cNvSpPr txBox="1"/>
          <p:nvPr/>
        </p:nvSpPr>
        <p:spPr>
          <a:xfrm>
            <a:off x="6278727" y="3547872"/>
            <a:ext cx="5592927" cy="256032"/>
          </a:xfrm>
          <a:prstGeom prst="rect">
            <a:avLst/>
          </a:prstGeom>
          <a:noFill/>
        </p:spPr>
        <p:txBody>
          <a:bodyPr wrap="square" lIns="18288">
            <a:spAutoFit/>
          </a:bodyPr>
          <a:lstStyle/>
          <a:p>
            <a:r>
              <a:rPr sz="1000" u="sng">
                <a:solidFill>
                  <a:srgbClr val="0000FF"/>
                </a:solidFill>
                <a:latin typeface="Calibri"/>
                <a:hlinkClick r:id="rId19"/>
              </a:rPr>
              <a:t>HLPF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